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51435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https://vk.ru/anchebykin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143500" cy="73152"/>
          </a:xfrm>
          <a:prstGeom prst="rect">
            <a:avLst/>
          </a:prstGeom>
          <a:solidFill>
            <a:srgbClr val="2FC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177540" y="-868680"/>
            <a:ext cx="2743200" cy="2743200"/>
          </a:xfrm>
          <a:prstGeom prst="ellipse">
            <a:avLst/>
          </a:prstGeom>
          <a:solidFill>
            <a:srgbClr val="2FC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8092440"/>
            <a:ext cx="1508760" cy="1508760"/>
          </a:xfrm>
          <a:prstGeom prst="ellipse">
            <a:avLst/>
          </a:prstGeom>
          <a:solidFill>
            <a:srgbClr val="BDF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091939" y="8759952"/>
            <a:ext cx="685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>
                <a:solidFill>
                  <a:srgbClr val="5A7082"/>
                </a:solidFill>
                <a:latin typeface="Open Sans"/>
              </a:rPr>
              <a:t>01 /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8759952"/>
            <a:ext cx="2286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A7082"/>
                </a:solidFill>
                <a:latin typeface="Open Sans"/>
              </a:rPr>
              <a:t>Битрикс24 • клиентские проекты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502920"/>
            <a:ext cx="4192524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2400" b="1">
                <a:solidFill>
                  <a:srgbClr val="10293E"/>
                </a:solidFill>
                <a:latin typeface="Montserrat"/>
              </a:rPr>
              <a:t>Битриксуйте клиентские проекты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69464" y="2350008"/>
            <a:ext cx="0" cy="1472183"/>
          </a:xfrm>
          <a:prstGeom prst="line">
            <a:avLst/>
          </a:prstGeom>
          <a:ln w="20320">
            <a:solidFill>
              <a:srgbClr val="409EEF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1069848" y="2944368"/>
            <a:ext cx="1335024" cy="1197863"/>
          </a:xfrm>
          <a:prstGeom prst="line">
            <a:avLst/>
          </a:prstGeom>
          <a:ln w="20320">
            <a:solidFill>
              <a:srgbClr val="409EEF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752344" y="2944368"/>
            <a:ext cx="1316735" cy="1197863"/>
          </a:xfrm>
          <a:prstGeom prst="line">
            <a:avLst/>
          </a:prstGeom>
          <a:ln w="20320">
            <a:solidFill>
              <a:srgbClr val="409EEF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 flipV="1">
            <a:off x="1069848" y="4709159"/>
            <a:ext cx="1335024" cy="850393"/>
          </a:xfrm>
          <a:prstGeom prst="line">
            <a:avLst/>
          </a:prstGeom>
          <a:ln w="20320">
            <a:solidFill>
              <a:srgbClr val="409EEF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2752344" y="4709159"/>
            <a:ext cx="1316735" cy="850393"/>
          </a:xfrm>
          <a:prstGeom prst="line">
            <a:avLst/>
          </a:prstGeom>
          <a:ln w="20320">
            <a:solidFill>
              <a:srgbClr val="409EEF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868680" y="3621023"/>
            <a:ext cx="3401568" cy="1517904"/>
          </a:xfrm>
          <a:prstGeom prst="ellipse">
            <a:avLst/>
          </a:prstGeom>
          <a:solidFill>
            <a:srgbClr val="2FC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69848" y="3822191"/>
            <a:ext cx="2999232" cy="1115568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FC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4759" y="4147515"/>
            <a:ext cx="2309408" cy="46492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1682496" y="1746504"/>
            <a:ext cx="1773936" cy="603504"/>
          </a:xfrm>
          <a:prstGeom prst="roundRect">
            <a:avLst/>
          </a:prstGeom>
          <a:solidFill>
            <a:srgbClr val="F2F8FC"/>
          </a:solidFill>
          <a:ln w="13970">
            <a:solidFill>
              <a:srgbClr val="D8E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  <a:r>
              <a:rPr sz="1350" b="1">
                <a:solidFill>
                  <a:srgbClr val="0066A1"/>
                </a:solidFill>
                <a:latin typeface="Montserrat"/>
              </a:rPr>
              <a:t>HR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" y="2596896"/>
            <a:ext cx="1965960" cy="694944"/>
          </a:xfrm>
          <a:prstGeom prst="roundRect">
            <a:avLst/>
          </a:prstGeom>
          <a:solidFill>
            <a:srgbClr val="F2F8FC"/>
          </a:solidFill>
          <a:ln w="13970">
            <a:solidFill>
              <a:srgbClr val="D8E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  <a:r>
              <a:rPr sz="1350" b="1">
                <a:solidFill>
                  <a:srgbClr val="0066A1"/>
                </a:solidFill>
                <a:latin typeface="Montserrat"/>
              </a:rPr>
              <a:t>Маркетинг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52344" y="2596896"/>
            <a:ext cx="1965960" cy="694944"/>
          </a:xfrm>
          <a:prstGeom prst="roundRect">
            <a:avLst/>
          </a:prstGeom>
          <a:solidFill>
            <a:srgbClr val="F2F8FC"/>
          </a:solidFill>
          <a:ln w="13970">
            <a:solidFill>
              <a:srgbClr val="D8E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  <a:r>
              <a:rPr sz="1350" b="1">
                <a:solidFill>
                  <a:srgbClr val="0066A1"/>
                </a:solidFill>
                <a:latin typeface="Montserrat"/>
              </a:rPr>
              <a:t>Продажи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" y="5559552"/>
            <a:ext cx="1965960" cy="694944"/>
          </a:xfrm>
          <a:prstGeom prst="roundRect">
            <a:avLst/>
          </a:prstGeom>
          <a:solidFill>
            <a:srgbClr val="F2F8FC"/>
          </a:solidFill>
          <a:ln w="13970">
            <a:solidFill>
              <a:srgbClr val="D8E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  <a:r>
              <a:rPr sz="1350" b="1">
                <a:solidFill>
                  <a:srgbClr val="0066A1"/>
                </a:solidFill>
                <a:latin typeface="Montserrat"/>
              </a:rPr>
              <a:t>Финансы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52344" y="5559552"/>
            <a:ext cx="1965960" cy="694944"/>
          </a:xfrm>
          <a:prstGeom prst="roundRect">
            <a:avLst/>
          </a:prstGeom>
          <a:solidFill>
            <a:srgbClr val="F2F8FC"/>
          </a:solidFill>
          <a:ln w="13970">
            <a:solidFill>
              <a:srgbClr val="D8E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  <a:r>
              <a:rPr sz="1350" b="1">
                <a:solidFill>
                  <a:srgbClr val="0066A1"/>
                </a:solidFill>
                <a:latin typeface="Montserrat"/>
              </a:rPr>
              <a:t>Digital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143500" cy="73152"/>
          </a:xfrm>
          <a:prstGeom prst="rect">
            <a:avLst/>
          </a:prstGeom>
          <a:solidFill>
            <a:srgbClr val="2FC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177540" y="-868680"/>
            <a:ext cx="2743200" cy="2743200"/>
          </a:xfrm>
          <a:prstGeom prst="ellipse">
            <a:avLst/>
          </a:prstGeom>
          <a:solidFill>
            <a:srgbClr val="2FC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8092440"/>
            <a:ext cx="1508760" cy="1508760"/>
          </a:xfrm>
          <a:prstGeom prst="ellipse">
            <a:avLst/>
          </a:prstGeom>
          <a:solidFill>
            <a:srgbClr val="BDF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091939" y="8759952"/>
            <a:ext cx="685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>
                <a:solidFill>
                  <a:srgbClr val="5A7082"/>
                </a:solidFill>
                <a:latin typeface="Open Sans"/>
              </a:rPr>
              <a:t>02 /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8759952"/>
            <a:ext cx="2286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A7082"/>
                </a:solidFill>
                <a:latin typeface="Open Sans"/>
              </a:rPr>
              <a:t>Битрикс24 • клиентские проекты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502920"/>
            <a:ext cx="4192524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2400" b="1">
                <a:solidFill>
                  <a:srgbClr val="10293E"/>
                </a:solidFill>
                <a:latin typeface="Montserrat"/>
              </a:rPr>
              <a:t>Об этом не говорят в рекламе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417320"/>
            <a:ext cx="419252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0">
                <a:solidFill>
                  <a:srgbClr val="5A7082"/>
                </a:solidFill>
                <a:latin typeface="Open Sans"/>
              </a:rPr>
              <a:t>С этим столкнётся ваш клиент — или почему проваливаются внедрения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" y="2212848"/>
            <a:ext cx="2084831" cy="786384"/>
          </a:xfrm>
          <a:prstGeom prst="roundRect">
            <a:avLst/>
          </a:prstGeom>
          <a:solidFill>
            <a:srgbClr val="F2F8FC"/>
          </a:solidFill>
          <a:ln w="13970">
            <a:solidFill>
              <a:srgbClr val="2FC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  <a:r>
              <a:rPr sz="1120" b="1">
                <a:solidFill>
                  <a:srgbClr val="10293E"/>
                </a:solidFill>
                <a:latin typeface="Montserrat"/>
              </a:rPr>
              <a:t>Автоматизация хаоса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06624" y="2212848"/>
            <a:ext cx="2084831" cy="78638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8E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  <a:r>
              <a:rPr sz="1120" b="1">
                <a:solidFill>
                  <a:srgbClr val="10293E"/>
                </a:solidFill>
                <a:latin typeface="Montserrat"/>
              </a:rPr>
              <a:t>Лоскутная автоматизация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3227832"/>
            <a:ext cx="2084831" cy="786384"/>
          </a:xfrm>
          <a:prstGeom prst="roundRect">
            <a:avLst/>
          </a:prstGeom>
          <a:solidFill>
            <a:srgbClr val="F2F8FC"/>
          </a:solidFill>
          <a:ln w="13970">
            <a:solidFill>
              <a:srgbClr val="2FC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  <a:r>
              <a:rPr sz="1120" b="1">
                <a:solidFill>
                  <a:srgbClr val="10293E"/>
                </a:solidFill>
                <a:latin typeface="Montserrat"/>
              </a:rPr>
              <a:t>Техничка вместо сценариев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06624" y="3227832"/>
            <a:ext cx="2084831" cy="78638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8E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  <a:r>
              <a:rPr sz="1120" b="1">
                <a:solidFill>
                  <a:srgbClr val="10293E"/>
                </a:solidFill>
                <a:latin typeface="Montserrat"/>
              </a:rPr>
              <a:t>Трудности перевода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" y="4242816"/>
            <a:ext cx="2084831" cy="786384"/>
          </a:xfrm>
          <a:prstGeom prst="roundRect">
            <a:avLst/>
          </a:prstGeom>
          <a:solidFill>
            <a:srgbClr val="F2F8FC"/>
          </a:solidFill>
          <a:ln w="13970">
            <a:solidFill>
              <a:srgbClr val="2FC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  <a:r>
              <a:rPr sz="1120" b="1">
                <a:solidFill>
                  <a:srgbClr val="10293E"/>
                </a:solidFill>
                <a:latin typeface="Montserrat"/>
              </a:rPr>
              <a:t>Саботаж персонала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06624" y="4242816"/>
            <a:ext cx="2084831" cy="78638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8E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  <a:r>
              <a:rPr sz="1120" b="1">
                <a:solidFill>
                  <a:srgbClr val="10293E"/>
                </a:solidFill>
                <a:latin typeface="Montserrat"/>
              </a:rPr>
              <a:t>Отсутствие драйвера перемен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463039" y="5394960"/>
            <a:ext cx="2286000" cy="0"/>
          </a:xfrm>
          <a:prstGeom prst="line">
            <a:avLst/>
          </a:prstGeom>
          <a:ln w="16510">
            <a:solidFill>
              <a:srgbClr val="409E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463039" y="3063239"/>
            <a:ext cx="0" cy="2331721"/>
          </a:xfrm>
          <a:prstGeom prst="line">
            <a:avLst/>
          </a:prstGeom>
          <a:ln w="14604">
            <a:solidFill>
              <a:srgbClr val="409E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749039" y="3063239"/>
            <a:ext cx="0" cy="2331721"/>
          </a:xfrm>
          <a:prstGeom prst="line">
            <a:avLst/>
          </a:prstGeom>
          <a:ln w="14604">
            <a:solidFill>
              <a:srgbClr val="409E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463039" y="4078224"/>
            <a:ext cx="0" cy="1316736"/>
          </a:xfrm>
          <a:prstGeom prst="line">
            <a:avLst/>
          </a:prstGeom>
          <a:ln w="14604">
            <a:solidFill>
              <a:srgbClr val="409E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749039" y="4078224"/>
            <a:ext cx="0" cy="1316736"/>
          </a:xfrm>
          <a:prstGeom prst="line">
            <a:avLst/>
          </a:prstGeom>
          <a:ln w="14604">
            <a:solidFill>
              <a:srgbClr val="409E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463039" y="5093208"/>
            <a:ext cx="0" cy="301752"/>
          </a:xfrm>
          <a:prstGeom prst="line">
            <a:avLst/>
          </a:prstGeom>
          <a:ln w="14604">
            <a:solidFill>
              <a:srgbClr val="409E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749039" y="5093208"/>
            <a:ext cx="0" cy="301752"/>
          </a:xfrm>
          <a:prstGeom prst="line">
            <a:avLst/>
          </a:prstGeom>
          <a:ln w="14604">
            <a:solidFill>
              <a:srgbClr val="409E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571750" y="5394960"/>
            <a:ext cx="0" cy="612648"/>
          </a:xfrm>
          <a:prstGeom prst="line">
            <a:avLst/>
          </a:prstGeom>
          <a:ln w="30480">
            <a:solidFill>
              <a:srgbClr val="0066A1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420624" y="6080760"/>
            <a:ext cx="4370832" cy="1051560"/>
          </a:xfrm>
          <a:prstGeom prst="roundRect">
            <a:avLst/>
          </a:prstGeom>
          <a:solidFill>
            <a:srgbClr val="0066A1"/>
          </a:solidFill>
          <a:ln w="13970">
            <a:solidFill>
              <a:srgbClr val="0066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400" b="1">
                <a:solidFill>
                  <a:srgbClr val="FFFFFF"/>
                </a:solidFill>
                <a:latin typeface="Montserrat"/>
              </a:rPr>
              <a:t>Непонимание, страх неудачи, самосаботаж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143500" cy="73152"/>
          </a:xfrm>
          <a:prstGeom prst="rect">
            <a:avLst/>
          </a:prstGeom>
          <a:solidFill>
            <a:srgbClr val="2FC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177540" y="-868680"/>
            <a:ext cx="2743200" cy="2743200"/>
          </a:xfrm>
          <a:prstGeom prst="ellipse">
            <a:avLst/>
          </a:prstGeom>
          <a:solidFill>
            <a:srgbClr val="2FC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8092440"/>
            <a:ext cx="1508760" cy="1508760"/>
          </a:xfrm>
          <a:prstGeom prst="ellipse">
            <a:avLst/>
          </a:prstGeom>
          <a:solidFill>
            <a:srgbClr val="BDF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091939" y="8759952"/>
            <a:ext cx="685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>
                <a:solidFill>
                  <a:srgbClr val="5A7082"/>
                </a:solidFill>
                <a:latin typeface="Open Sans"/>
              </a:rPr>
              <a:t>03 /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8759952"/>
            <a:ext cx="2286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A7082"/>
                </a:solidFill>
                <a:latin typeface="Open Sans"/>
              </a:rPr>
              <a:t>Битрикс24 • клиентские проекты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502920"/>
            <a:ext cx="4192524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2400" b="1">
                <a:solidFill>
                  <a:srgbClr val="10293E"/>
                </a:solidFill>
                <a:latin typeface="Montserrat"/>
              </a:rPr>
              <a:t>Вывод: нужен честный грамотный партнёр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" y="1655064"/>
            <a:ext cx="4370832" cy="74980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8E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57784" y="1773936"/>
            <a:ext cx="512064" cy="512064"/>
          </a:xfrm>
          <a:prstGeom prst="ellipse">
            <a:avLst/>
          </a:prstGeom>
          <a:solidFill>
            <a:srgbClr val="2FC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7784" y="1773936"/>
            <a:ext cx="512064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0066A1"/>
                </a:solidFill>
                <a:latin typeface="Montserrat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7008" y="1746504"/>
            <a:ext cx="3438144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0293E"/>
                </a:solidFill>
                <a:latin typeface="Montserrat"/>
              </a:rPr>
              <a:t>Говорит на одном языке с вами и клиентом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" y="2569464"/>
            <a:ext cx="4370832" cy="74980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8E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57784" y="2688336"/>
            <a:ext cx="512064" cy="512064"/>
          </a:xfrm>
          <a:prstGeom prst="ellipse">
            <a:avLst/>
          </a:prstGeom>
          <a:solidFill>
            <a:srgbClr val="2FC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7784" y="2688336"/>
            <a:ext cx="512064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0066A1"/>
                </a:solidFill>
                <a:latin typeface="Montserrat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7008" y="2660904"/>
            <a:ext cx="3438144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0293E"/>
                </a:solidFill>
                <a:latin typeface="Montserrat"/>
              </a:rPr>
              <a:t>Создаст систему на основе понимания бизнеса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" y="3483864"/>
            <a:ext cx="4370832" cy="74980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8E9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57784" y="3602736"/>
            <a:ext cx="512064" cy="512064"/>
          </a:xfrm>
          <a:prstGeom prst="ellipse">
            <a:avLst/>
          </a:prstGeom>
          <a:solidFill>
            <a:srgbClr val="2FC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7784" y="3602736"/>
            <a:ext cx="512064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0066A1"/>
                </a:solidFill>
                <a:latin typeface="Montserrat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8" y="3575304"/>
            <a:ext cx="3438144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0293E"/>
                </a:solidFill>
                <a:latin typeface="Montserrat"/>
              </a:rPr>
              <a:t>Обучит и поддержит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0624" y="4535424"/>
            <a:ext cx="4370832" cy="3429000"/>
          </a:xfrm>
          <a:prstGeom prst="roundRect">
            <a:avLst/>
          </a:prstGeom>
          <a:solidFill>
            <a:srgbClr val="0066A1"/>
          </a:solidFill>
          <a:ln w="13970">
            <a:solidFill>
              <a:srgbClr val="0066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" y="4828032"/>
            <a:ext cx="378561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Montserrat"/>
              </a:rPr>
              <a:t>Пишите мне в VK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285232"/>
            <a:ext cx="3785616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1150" b="0">
                <a:solidFill>
                  <a:srgbClr val="FFFFFF"/>
                </a:solidFill>
                <a:latin typeface="Open Sans"/>
              </a:rPr>
              <a:t>и получите чек-лист
«10 ошибок внедрения Битрикс24.
Как их избежать»</a:t>
            </a:r>
          </a:p>
        </p:txBody>
      </p:sp>
      <p:pic>
        <p:nvPicPr>
          <p:cNvPr id="23" name="Picture 22" descr="vk-anchebykin-qr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8528" y="6345936"/>
            <a:ext cx="1335024" cy="133502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86384" y="7717536"/>
            <a:ext cx="36393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2FC7F7"/>
                </a:solidFill>
                <a:latin typeface="Open Sans"/>
              </a:rPr>
              <a:t>vk.ru/anchebykin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Битриксуйте клиентские проекты</dc:title>
  <dc:subject>Битрикс24: клиентские проекты и внедрение</dc:subject>
  <dc:creator>Презентация для Битрикс24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language>ru-RU</dc:language>
</cp:coreProperties>
</file>