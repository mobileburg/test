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vk.ru/anchebyk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25735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806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40135" y="6473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01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73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"/>
            <a:ext cx="108749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1">
                <a:solidFill>
                  <a:srgbClr val="10293E"/>
                </a:solidFill>
                <a:latin typeface="Montserrat"/>
              </a:rPr>
              <a:t>Битриксуйте клиентские проекты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1828800"/>
            <a:ext cx="0" cy="1005840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90672" y="2734056"/>
            <a:ext cx="1481328" cy="393192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616952" y="2734056"/>
            <a:ext cx="1481328" cy="393192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33672" y="3968496"/>
            <a:ext cx="758952" cy="603504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7196328" y="3968496"/>
            <a:ext cx="758951" cy="603504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70832" y="2633472"/>
            <a:ext cx="3447288" cy="1536192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834640"/>
            <a:ext cx="3044952" cy="11338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169" y="3165564"/>
            <a:ext cx="2344613" cy="47200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166360" y="1225296"/>
            <a:ext cx="1856231" cy="60350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500" b="1">
                <a:solidFill>
                  <a:srgbClr val="0066A1"/>
                </a:solidFill>
                <a:latin typeface="Montserrat"/>
              </a:rPr>
              <a:t>HR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377440"/>
            <a:ext cx="2176272" cy="713232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500" b="1">
                <a:solidFill>
                  <a:srgbClr val="0066A1"/>
                </a:solidFill>
                <a:latin typeface="Montserrat"/>
              </a:rPr>
              <a:t>Маркетинг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377440"/>
            <a:ext cx="2176272" cy="713232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500" b="1">
                <a:solidFill>
                  <a:srgbClr val="0066A1"/>
                </a:solidFill>
                <a:latin typeface="Montserrat"/>
              </a:rPr>
              <a:t>Продажи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4572000"/>
            <a:ext cx="2176272" cy="713232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500" b="1">
                <a:solidFill>
                  <a:srgbClr val="0066A1"/>
                </a:solidFill>
                <a:latin typeface="Montserrat"/>
              </a:rPr>
              <a:t>Финансы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572000"/>
            <a:ext cx="2176272" cy="713232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500" b="1">
                <a:solidFill>
                  <a:srgbClr val="0066A1"/>
                </a:solidFill>
                <a:latin typeface="Montserrat"/>
              </a:rPr>
              <a:t>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25735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806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40135" y="6473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02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73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"/>
            <a:ext cx="108749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1">
                <a:solidFill>
                  <a:srgbClr val="10293E"/>
                </a:solidFill>
                <a:latin typeface="Montserrat"/>
              </a:rPr>
              <a:t>Об этом не говорят в рекламе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24128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>
                <a:solidFill>
                  <a:srgbClr val="5A7082"/>
                </a:solidFill>
                <a:latin typeface="Open Sans"/>
              </a:rPr>
              <a:t>С этим столкнётся ваш клиент — или почему проваливаются внедрения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3154680" cy="704088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Автоматизация хаоса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18488"/>
            <a:ext cx="3154680" cy="704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Лоскутная автоматизация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618488"/>
            <a:ext cx="3154680" cy="704088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Техничка вместо сценариев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78608"/>
            <a:ext cx="3154680" cy="704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Трудности перевода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2578608"/>
            <a:ext cx="3154680" cy="704088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Саботаж персонала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578608"/>
            <a:ext cx="3154680" cy="704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240" b="1">
                <a:solidFill>
                  <a:srgbClr val="10293E"/>
                </a:solidFill>
                <a:latin typeface="Montserrat"/>
              </a:rPr>
              <a:t>Отсутствие драйвера перемен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35708" y="3666744"/>
            <a:ext cx="7223759" cy="0"/>
          </a:xfrm>
          <a:prstGeom prst="line">
            <a:avLst/>
          </a:prstGeom>
          <a:ln w="16510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35708" y="2386584"/>
            <a:ext cx="0" cy="128016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47588" y="2386584"/>
            <a:ext cx="0" cy="128016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59467" y="2386584"/>
            <a:ext cx="0" cy="128016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35708" y="3346704"/>
            <a:ext cx="0" cy="32004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47588" y="3346704"/>
            <a:ext cx="0" cy="32004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59467" y="3346704"/>
            <a:ext cx="0" cy="320040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5847" y="3666744"/>
            <a:ext cx="0" cy="521208"/>
          </a:xfrm>
          <a:prstGeom prst="line">
            <a:avLst/>
          </a:prstGeom>
          <a:ln w="30480">
            <a:solidFill>
              <a:srgbClr val="0066A1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98648" y="4261104"/>
            <a:ext cx="6400800" cy="804672"/>
          </a:xfrm>
          <a:prstGeom prst="roundRect">
            <a:avLst/>
          </a:prstGeom>
          <a:solidFill>
            <a:srgbClr val="0066A1"/>
          </a:solidFill>
          <a:ln w="13970">
            <a:solidFill>
              <a:srgbClr val="006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Непонимание, страх неудачи, самосаботаж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25735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806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40135" y="6473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03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73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"/>
            <a:ext cx="1087495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1">
                <a:solidFill>
                  <a:srgbClr val="10293E"/>
                </a:solidFill>
                <a:latin typeface="Montserrat"/>
              </a:rPr>
              <a:t>Вывод: нужен честный грамотный партнёр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35024"/>
            <a:ext cx="56235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26464"/>
            <a:ext cx="457200" cy="457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264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26464"/>
            <a:ext cx="4764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0293E"/>
                </a:solidFill>
                <a:latin typeface="Montserrat"/>
              </a:rPr>
              <a:t>Говорит на одном языке с вами и клиентом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76272"/>
            <a:ext cx="56235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2267712"/>
            <a:ext cx="457200" cy="457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267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67712"/>
            <a:ext cx="4764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0293E"/>
                </a:solidFill>
                <a:latin typeface="Montserrat"/>
              </a:rPr>
              <a:t>Создаст систему на основе понимания бизнеса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17520"/>
            <a:ext cx="56235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" y="3108960"/>
            <a:ext cx="457200" cy="457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10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08960"/>
            <a:ext cx="4764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0293E"/>
                </a:solidFill>
                <a:latin typeface="Montserrat"/>
              </a:rPr>
              <a:t>Обучит и поддержит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1335024"/>
            <a:ext cx="4828032" cy="3136392"/>
          </a:xfrm>
          <a:prstGeom prst="roundRect">
            <a:avLst/>
          </a:prstGeom>
          <a:solidFill>
            <a:srgbClr val="0066A1"/>
          </a:solidFill>
          <a:ln w="13970">
            <a:solidFill>
              <a:srgbClr val="006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64592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ontserrat"/>
              </a:rPr>
              <a:t>Пишите мне в VK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76272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80" b="0">
                <a:solidFill>
                  <a:srgbClr val="FFFFFF"/>
                </a:solidFill>
                <a:latin typeface="Open Sans"/>
              </a:rPr>
              <a:t>и получите чек-лист
«10 ошибок внедрения Битрикс24.
Как их избежать»</a:t>
            </a:r>
          </a:p>
        </p:txBody>
      </p:sp>
      <p:pic>
        <p:nvPicPr>
          <p:cNvPr id="23" name="Picture 22" descr="vk-anchebykin-qr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737360"/>
            <a:ext cx="1481328" cy="1481328"/>
          </a:xfrm>
          <a:prstGeom prst="rect">
            <a:avLst/>
          </a:prstGeom>
        </p:spPr>
      </p:pic>
      <p:sp>
        <p:nvSpPr>
          <p:cNvPr id="24" name="Rounded Rectangle 23">
            <a:hlinkClick r:id="rId3"/>
          </p:cNvPr>
          <p:cNvSpPr/>
          <p:nvPr/>
        </p:nvSpPr>
        <p:spPr>
          <a:xfrm>
            <a:off x="7059168" y="3675887"/>
            <a:ext cx="4133088" cy="475488"/>
          </a:xfrm>
          <a:prstGeom prst="roundRect">
            <a:avLst/>
          </a:prstGeom>
          <a:solidFill>
            <a:srgbClr val="BDF300"/>
          </a:solidFill>
          <a:ln w="13970">
            <a:solidFill>
              <a:srgbClr val="BDF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050" b="1">
                <a:solidFill>
                  <a:srgbClr val="10293E"/>
                </a:solidFill>
                <a:latin typeface="Montserrat"/>
              </a:rPr>
              <a:t>vk.ru/anchebykin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Битриксуйте клиентские проекты</dc:title>
  <dc:subject>Битрикс24: клиентские проекты и внедрение</dc:subject>
  <dc:creator>Презентация для Битрикс24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