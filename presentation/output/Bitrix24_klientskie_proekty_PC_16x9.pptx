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hyperlink" Target="https://vk.ru/anchebykin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C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45775" y="5532120"/>
            <a:ext cx="2286000" cy="2286000"/>
          </a:xfrm>
          <a:prstGeom prst="ellipse">
            <a:avLst/>
          </a:prstGeom>
          <a:solidFill>
            <a:srgbClr val="2FC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31520" y="5806440"/>
            <a:ext cx="1508760" cy="1508760"/>
          </a:xfrm>
          <a:prstGeom prst="ellipse">
            <a:avLst/>
          </a:prstGeom>
          <a:solidFill>
            <a:srgbClr val="BDF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usskiy-bi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3127" y="201168"/>
            <a:ext cx="1600200" cy="3872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438912"/>
            <a:ext cx="9110167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2700" b="1">
                <a:solidFill>
                  <a:srgbClr val="10293E"/>
                </a:solidFill>
                <a:latin typeface="Montserrat"/>
              </a:rPr>
              <a:t>Битриксуйте клиентские проекты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9048" y="1828800"/>
            <a:ext cx="0" cy="1005840"/>
          </a:xfrm>
          <a:prstGeom prst="line">
            <a:avLst/>
          </a:prstGeom>
          <a:ln w="20320">
            <a:solidFill>
              <a:srgbClr val="409EEF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090672" y="2734056"/>
            <a:ext cx="1481328" cy="393192"/>
          </a:xfrm>
          <a:prstGeom prst="line">
            <a:avLst/>
          </a:prstGeom>
          <a:ln w="20320">
            <a:solidFill>
              <a:srgbClr val="409EEF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7616952" y="2734056"/>
            <a:ext cx="1481328" cy="393192"/>
          </a:xfrm>
          <a:prstGeom prst="line">
            <a:avLst/>
          </a:prstGeom>
          <a:ln w="20320">
            <a:solidFill>
              <a:srgbClr val="409EEF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4233672" y="3968496"/>
            <a:ext cx="758952" cy="603504"/>
          </a:xfrm>
          <a:prstGeom prst="line">
            <a:avLst/>
          </a:prstGeom>
          <a:ln w="20320">
            <a:solidFill>
              <a:srgbClr val="409EEF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 flipV="1">
            <a:off x="7196328" y="3968496"/>
            <a:ext cx="758951" cy="603504"/>
          </a:xfrm>
          <a:prstGeom prst="line">
            <a:avLst/>
          </a:prstGeom>
          <a:ln w="20320">
            <a:solidFill>
              <a:srgbClr val="409EEF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4370832" y="2633472"/>
            <a:ext cx="3447288" cy="1536192"/>
          </a:xfrm>
          <a:prstGeom prst="ellipse">
            <a:avLst/>
          </a:prstGeom>
          <a:solidFill>
            <a:srgbClr val="2FC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2834640"/>
            <a:ext cx="3044952" cy="1133856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FC7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2169" y="3165564"/>
            <a:ext cx="2344613" cy="472007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5166360" y="1225296"/>
            <a:ext cx="1856231" cy="603504"/>
          </a:xfrm>
          <a:prstGeom prst="roundRect">
            <a:avLst/>
          </a:prstGeom>
          <a:solidFill>
            <a:srgbClr val="F2F8FC"/>
          </a:solidFill>
          <a:ln w="13970">
            <a:solidFill>
              <a:srgbClr val="D8E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500" b="1">
                <a:solidFill>
                  <a:srgbClr val="0066A1"/>
                </a:solidFill>
                <a:latin typeface="Montserrat"/>
              </a:rPr>
              <a:t>HR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2377440"/>
            <a:ext cx="2176272" cy="713232"/>
          </a:xfrm>
          <a:prstGeom prst="roundRect">
            <a:avLst/>
          </a:prstGeom>
          <a:solidFill>
            <a:srgbClr val="F2F8FC"/>
          </a:solidFill>
          <a:ln w="13970">
            <a:solidFill>
              <a:srgbClr val="D8E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500" b="1">
                <a:solidFill>
                  <a:srgbClr val="0066A1"/>
                </a:solidFill>
                <a:latin typeface="Montserrat"/>
              </a:rPr>
              <a:t>Маркетинг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2377440"/>
            <a:ext cx="2176272" cy="713232"/>
          </a:xfrm>
          <a:prstGeom prst="roundRect">
            <a:avLst/>
          </a:prstGeom>
          <a:solidFill>
            <a:srgbClr val="F2F8FC"/>
          </a:solidFill>
          <a:ln w="13970">
            <a:solidFill>
              <a:srgbClr val="D8E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500" b="1">
                <a:solidFill>
                  <a:srgbClr val="0066A1"/>
                </a:solidFill>
                <a:latin typeface="Montserrat"/>
              </a:rPr>
              <a:t>Продажи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57400" y="4572000"/>
            <a:ext cx="2176272" cy="713232"/>
          </a:xfrm>
          <a:prstGeom prst="roundRect">
            <a:avLst/>
          </a:prstGeom>
          <a:solidFill>
            <a:srgbClr val="F2F8FC"/>
          </a:solidFill>
          <a:ln w="13970">
            <a:solidFill>
              <a:srgbClr val="D8E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500" b="1">
                <a:solidFill>
                  <a:srgbClr val="0066A1"/>
                </a:solidFill>
                <a:latin typeface="Montserrat"/>
              </a:rPr>
              <a:t>Финансы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4572000"/>
            <a:ext cx="2176272" cy="713232"/>
          </a:xfrm>
          <a:prstGeom prst="roundRect">
            <a:avLst/>
          </a:prstGeom>
          <a:solidFill>
            <a:srgbClr val="F2F8FC"/>
          </a:solidFill>
          <a:ln w="13970">
            <a:solidFill>
              <a:srgbClr val="D8E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500" b="1">
                <a:solidFill>
                  <a:srgbClr val="0066A1"/>
                </a:solidFill>
                <a:latin typeface="Montserrat"/>
              </a:rPr>
              <a:t>Digital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C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45775" y="5532120"/>
            <a:ext cx="2286000" cy="2286000"/>
          </a:xfrm>
          <a:prstGeom prst="ellipse">
            <a:avLst/>
          </a:prstGeom>
          <a:solidFill>
            <a:srgbClr val="2FC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31520" y="5806440"/>
            <a:ext cx="1508760" cy="1508760"/>
          </a:xfrm>
          <a:prstGeom prst="ellipse">
            <a:avLst/>
          </a:prstGeom>
          <a:solidFill>
            <a:srgbClr val="BDF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usskiy-bi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3127" y="201168"/>
            <a:ext cx="1600200" cy="3872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438912"/>
            <a:ext cx="9110167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2700" b="1">
                <a:solidFill>
                  <a:srgbClr val="10293E"/>
                </a:solidFill>
                <a:latin typeface="Montserrat"/>
              </a:rPr>
              <a:t>Об этом не говорят в рекламе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024128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250" b="0">
                <a:solidFill>
                  <a:srgbClr val="5A7082"/>
                </a:solidFill>
                <a:latin typeface="Open Sans"/>
              </a:rPr>
              <a:t>С этим столкнётся ваш клиент — или почему проваливаются внедрения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235708" y="3666744"/>
            <a:ext cx="7223759" cy="0"/>
          </a:xfrm>
          <a:prstGeom prst="line">
            <a:avLst/>
          </a:prstGeom>
          <a:ln w="16510">
            <a:solidFill>
              <a:srgbClr val="409E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235708" y="2386584"/>
            <a:ext cx="0" cy="1280160"/>
          </a:xfrm>
          <a:prstGeom prst="line">
            <a:avLst/>
          </a:prstGeom>
          <a:ln w="14604">
            <a:solidFill>
              <a:srgbClr val="409E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847588" y="2386584"/>
            <a:ext cx="0" cy="1280160"/>
          </a:xfrm>
          <a:prstGeom prst="line">
            <a:avLst/>
          </a:prstGeom>
          <a:ln w="14604">
            <a:solidFill>
              <a:srgbClr val="409E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459467" y="2386584"/>
            <a:ext cx="0" cy="1280160"/>
          </a:xfrm>
          <a:prstGeom prst="line">
            <a:avLst/>
          </a:prstGeom>
          <a:ln w="14604">
            <a:solidFill>
              <a:srgbClr val="409E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235708" y="3346704"/>
            <a:ext cx="0" cy="320040"/>
          </a:xfrm>
          <a:prstGeom prst="line">
            <a:avLst/>
          </a:prstGeom>
          <a:ln w="14604">
            <a:solidFill>
              <a:srgbClr val="409E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847588" y="3346704"/>
            <a:ext cx="0" cy="320040"/>
          </a:xfrm>
          <a:prstGeom prst="line">
            <a:avLst/>
          </a:prstGeom>
          <a:ln w="14604">
            <a:solidFill>
              <a:srgbClr val="409E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59467" y="3346704"/>
            <a:ext cx="0" cy="320040"/>
          </a:xfrm>
          <a:prstGeom prst="line">
            <a:avLst/>
          </a:prstGeom>
          <a:ln w="14604">
            <a:solidFill>
              <a:srgbClr val="409E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95847" y="3666744"/>
            <a:ext cx="0" cy="521208"/>
          </a:xfrm>
          <a:prstGeom prst="line">
            <a:avLst/>
          </a:prstGeom>
          <a:ln w="30480">
            <a:solidFill>
              <a:srgbClr val="0066A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58368" y="1618488"/>
            <a:ext cx="3154680" cy="704088"/>
          </a:xfrm>
          <a:prstGeom prst="roundRect">
            <a:avLst/>
          </a:prstGeom>
          <a:solidFill>
            <a:srgbClr val="F2F8FC"/>
          </a:solidFill>
          <a:ln w="13970">
            <a:solidFill>
              <a:srgbClr val="2FC7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240" b="1">
                <a:solidFill>
                  <a:srgbClr val="10293E"/>
                </a:solidFill>
                <a:latin typeface="Montserrat"/>
              </a:rPr>
              <a:t>Автоматизация хаоса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70248" y="1618488"/>
            <a:ext cx="3154680" cy="70408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8E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240" b="1">
                <a:solidFill>
                  <a:srgbClr val="10293E"/>
                </a:solidFill>
                <a:latin typeface="Montserrat"/>
              </a:rPr>
              <a:t>Лоскутная автоматизация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82127" y="1618488"/>
            <a:ext cx="3154680" cy="704088"/>
          </a:xfrm>
          <a:prstGeom prst="roundRect">
            <a:avLst/>
          </a:prstGeom>
          <a:solidFill>
            <a:srgbClr val="F2F8FC"/>
          </a:solidFill>
          <a:ln w="13970">
            <a:solidFill>
              <a:srgbClr val="2FC7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240" b="1">
                <a:solidFill>
                  <a:srgbClr val="10293E"/>
                </a:solidFill>
                <a:latin typeface="Montserrat"/>
              </a:rPr>
              <a:t>Техничка вместо сценариев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2578608"/>
            <a:ext cx="3154680" cy="70408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8E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240" b="1">
                <a:solidFill>
                  <a:srgbClr val="10293E"/>
                </a:solidFill>
                <a:latin typeface="Montserrat"/>
              </a:rPr>
              <a:t>Трудности перевода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70248" y="2578608"/>
            <a:ext cx="3154680" cy="704088"/>
          </a:xfrm>
          <a:prstGeom prst="roundRect">
            <a:avLst/>
          </a:prstGeom>
          <a:solidFill>
            <a:srgbClr val="F2F8FC"/>
          </a:solidFill>
          <a:ln w="13970">
            <a:solidFill>
              <a:srgbClr val="2FC7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240" b="1">
                <a:solidFill>
                  <a:srgbClr val="10293E"/>
                </a:solidFill>
                <a:latin typeface="Montserrat"/>
              </a:rPr>
              <a:t>Саботаж персонала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82127" y="2578608"/>
            <a:ext cx="3154680" cy="70408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8E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240" b="1">
                <a:solidFill>
                  <a:srgbClr val="10293E"/>
                </a:solidFill>
                <a:latin typeface="Montserrat"/>
              </a:rPr>
              <a:t>Отсутствие драйвера перемен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98648" y="4261104"/>
            <a:ext cx="6400800" cy="804672"/>
          </a:xfrm>
          <a:prstGeom prst="roundRect">
            <a:avLst/>
          </a:prstGeom>
          <a:solidFill>
            <a:srgbClr val="0066A1"/>
          </a:solidFill>
          <a:ln w="13970">
            <a:solidFill>
              <a:srgbClr val="0066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Непонимание, страх неудачи, самосаботаж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C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45775" y="5532120"/>
            <a:ext cx="2286000" cy="2286000"/>
          </a:xfrm>
          <a:prstGeom prst="ellipse">
            <a:avLst/>
          </a:prstGeom>
          <a:solidFill>
            <a:srgbClr val="2FC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31520" y="5806440"/>
            <a:ext cx="1508760" cy="1508760"/>
          </a:xfrm>
          <a:prstGeom prst="ellipse">
            <a:avLst/>
          </a:prstGeom>
          <a:solidFill>
            <a:srgbClr val="BDF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usskiy-bi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3127" y="201168"/>
            <a:ext cx="1600200" cy="3872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438912"/>
            <a:ext cx="9110167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2700" b="1">
                <a:solidFill>
                  <a:srgbClr val="10293E"/>
                </a:solidFill>
                <a:latin typeface="Montserrat"/>
              </a:rPr>
              <a:t>Вывод: нужен честный грамотный партнёр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335024"/>
            <a:ext cx="5623560" cy="65836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8E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95528" y="1426464"/>
            <a:ext cx="457200" cy="457200"/>
          </a:xfrm>
          <a:prstGeom prst="ellipse">
            <a:avLst/>
          </a:prstGeom>
          <a:solidFill>
            <a:srgbClr val="2FC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14264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066A1"/>
                </a:solidFill>
                <a:latin typeface="Montserrat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426464"/>
            <a:ext cx="476402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10293E"/>
                </a:solidFill>
                <a:latin typeface="Montserrat"/>
              </a:rPr>
              <a:t>Говорит на одном языке с вами и клиентом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176272"/>
            <a:ext cx="5623560" cy="65836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8E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5528" y="2267712"/>
            <a:ext cx="457200" cy="457200"/>
          </a:xfrm>
          <a:prstGeom prst="ellipse">
            <a:avLst/>
          </a:prstGeom>
          <a:solidFill>
            <a:srgbClr val="2FC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226771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066A1"/>
                </a:solidFill>
                <a:latin typeface="Montserrat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267712"/>
            <a:ext cx="476402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10293E"/>
                </a:solidFill>
                <a:latin typeface="Montserrat"/>
              </a:rPr>
              <a:t>Создаст систему на основе понимания бизнеса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017520"/>
            <a:ext cx="5623560" cy="65836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8E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5528" y="3108960"/>
            <a:ext cx="457200" cy="457200"/>
          </a:xfrm>
          <a:prstGeom prst="ellipse">
            <a:avLst/>
          </a:prstGeom>
          <a:solidFill>
            <a:srgbClr val="2FC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" y="3108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066A1"/>
                </a:solidFill>
                <a:latin typeface="Montserrat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108960"/>
            <a:ext cx="476402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10293E"/>
                </a:solidFill>
                <a:latin typeface="Montserrat"/>
              </a:rPr>
              <a:t>Обучит и поддержит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11696" y="1335024"/>
            <a:ext cx="4828032" cy="3136392"/>
          </a:xfrm>
          <a:prstGeom prst="roundRect">
            <a:avLst/>
          </a:prstGeom>
          <a:solidFill>
            <a:srgbClr val="0066A1"/>
          </a:solidFill>
          <a:ln w="13970">
            <a:solidFill>
              <a:srgbClr val="0066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59168" y="1645920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ontserrat"/>
              </a:rPr>
              <a:t>Пишите мне в ВК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9168" y="2176272"/>
            <a:ext cx="2834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180" b="0">
                <a:solidFill>
                  <a:srgbClr val="FFFFFF"/>
                </a:solidFill>
                <a:latin typeface="Open Sans"/>
              </a:rPr>
              <a:t>и получите чек-лист
«10 ошибок внедрения Битрикс24.
Как их избежать»</a:t>
            </a:r>
          </a:p>
        </p:txBody>
      </p:sp>
      <p:pic>
        <p:nvPicPr>
          <p:cNvPr id="22" name="Picture 21" descr="vk-anchebykin-qr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928" y="1737360"/>
            <a:ext cx="1481328" cy="1481328"/>
          </a:xfrm>
          <a:prstGeom prst="rect">
            <a:avLst/>
          </a:prstGeom>
        </p:spPr>
      </p:pic>
      <p:sp>
        <p:nvSpPr>
          <p:cNvPr id="23" name="Rounded Rectangle 22">
            <a:hlinkClick r:id="rId4"/>
          </p:cNvPr>
          <p:cNvSpPr/>
          <p:nvPr/>
        </p:nvSpPr>
        <p:spPr>
          <a:xfrm>
            <a:off x="7059168" y="3675887"/>
            <a:ext cx="4133088" cy="475488"/>
          </a:xfrm>
          <a:prstGeom prst="roundRect">
            <a:avLst/>
          </a:prstGeom>
          <a:solidFill>
            <a:srgbClr val="BDF300"/>
          </a:solidFill>
          <a:ln w="13970">
            <a:solidFill>
              <a:srgbClr val="BDF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050" b="1">
                <a:solidFill>
                  <a:srgbClr val="10293E"/>
                </a:solidFill>
                <a:latin typeface="Montserrat"/>
              </a:rPr>
              <a:t>vk.ru/anchebykin  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Битриксуйте клиентские проекты</dc:title>
  <dc:subject>Битрикс24: клиентские проекты и внедрение</dc:subject>
  <dc:creator>Презентация для Битрикс24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ru-RU</dc:language>
</cp:coreProperties>
</file>